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E26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Latte</c:v>
                  </c:pt>
                  <c:pt idx="1">
                    <c:v>Americano with Milk</c:v>
                  </c:pt>
                  <c:pt idx="2">
                    <c:v>Cappuccino</c:v>
                  </c:pt>
                  <c:pt idx="3">
                    <c:v>Americano</c:v>
                  </c:pt>
                  <c:pt idx="4">
                    <c:v>Hot Chocolate</c:v>
                  </c:pt>
                  <c:pt idx="5">
                    <c:v>Cocoa</c:v>
                  </c:pt>
                  <c:pt idx="6">
                    <c:v>Cortado</c:v>
                  </c:pt>
                  <c:pt idx="7">
                    <c:v>Espresso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26875</c:v>
                </c:pt>
                <c:pt idx="1">
                  <c:v>24751</c:v>
                </c:pt>
                <c:pt idx="2">
                  <c:v>17439</c:v>
                </c:pt>
                <c:pt idx="3">
                  <c:v>14650</c:v>
                </c:pt>
                <c:pt idx="4">
                  <c:v>9933</c:v>
                </c:pt>
                <c:pt idx="5">
                  <c:v>8521</c:v>
                </c:pt>
                <c:pt idx="6">
                  <c:v>7385</c:v>
                </c:pt>
                <c:pt idx="7">
                  <c:v>2690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E26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E26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E2622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Aug</c:v>
                  </c:pt>
                  <c:pt idx="6">
                    <c:v>Sep</c:v>
                  </c:pt>
                  <c:pt idx="7">
                    <c:v>Oct</c:v>
                  </c:pt>
                  <c:pt idx="8">
                    <c:v>Nov</c:v>
                  </c:pt>
                  <c:pt idx="9">
                    <c:v>Dec</c:v>
                  </c:pt>
                  <c:pt idx="10">
                    <c:v>Jan</c:v>
                  </c:pt>
                  <c:pt idx="11">
                    <c:v>Feb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494</c:v>
                </c:pt>
                <c:pt idx="1">
                  <c:v>168</c:v>
                </c:pt>
                <c:pt idx="2">
                  <c:v>241</c:v>
                </c:pt>
                <c:pt idx="3">
                  <c:v>223</c:v>
                </c:pt>
                <c:pt idx="4">
                  <c:v>237</c:v>
                </c:pt>
                <c:pt idx="5">
                  <c:v>272</c:v>
                </c:pt>
                <c:pt idx="6">
                  <c:v>344</c:v>
                </c:pt>
                <c:pt idx="7">
                  <c:v>426</c:v>
                </c:pt>
                <c:pt idx="8">
                  <c:v>259</c:v>
                </c:pt>
                <c:pt idx="9">
                  <c:v>259</c:v>
                </c:pt>
                <c:pt idx="10">
                  <c:v>201</c:v>
                </c:pt>
                <c:pt idx="11">
                  <c:v>423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E2622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26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A441"/>
              </a:solidFill>
              <a:effectLst/>
            </c:spPr>
          </c:dPt>
          <c:dPt>
            <c:idx val="1"/>
            <c:bubble3D val="0"/>
            <c:spPr>
              <a:solidFill>
                <a:srgbClr val="B85042"/>
              </a:solidFill>
              <a:effectLst/>
            </c:spPr>
          </c:dPt>
          <c:dPt>
            <c:idx val="2"/>
            <c:bubble3D val="0"/>
            <c:spPr>
              <a:solidFill>
                <a:srgbClr val="5C4F47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Morning</c:v>
                </c:pt>
                <c:pt idx="1">
                  <c:v>Afternoon</c:v>
                </c:pt>
                <c:pt idx="2">
                  <c:v>Night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1181</c:v>
                </c:pt>
                <c:pt idx="1">
                  <c:v>1205</c:v>
                </c:pt>
                <c:pt idx="2">
                  <c:v>1161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E262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B8504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457200"/>
            <a:ext cx="2743200" cy="2743200"/>
          </a:xfrm>
          <a:prstGeom prst="ellipse">
            <a:avLst/>
          </a:prstGeom>
          <a:solidFill>
            <a:srgbClr val="D9A441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 SHOP SALES ANALYTICS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Trends, Product Performance &amp; Customer Behavior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 Report  |  Prepared for Management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 snapshot across the full transaction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5628" y="219456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595628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3,547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75988" y="219456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475988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880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$112,245.58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66160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56348" y="219456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7356348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880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$31.65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Value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9720" y="19202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36708" y="219456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10236708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2880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$18.12 – $38.70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26880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Transaction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8C3A3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548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3,547 transactions generated $112.2K in revenue at an average ticket of $31.65. Sales are broadly consistent across morning, afternoon and night — indicating steady, all-day demand rather than a single peak period.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Sales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Best-Selling Coffee by Revenue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 leads total revenue; Americano with Milk leads unit sales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B85042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6916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503920" y="1691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757 units  •  Avg $35.50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72400" y="283464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29260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503920" y="2926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Americano with Milk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809 units  •  Avg $30.59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0" y="406908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41605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503920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Cappuccino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 units  •  Avg $35.88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Sales Analytics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 Detail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sold, revenue and average price across all 8 coffee types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572000"/>
        </p:xfrm>
        <a:graphic>
          <a:graphicData uri="http://schemas.openxmlformats.org/drawingml/2006/table">
            <a:tbl>
              <a:tblPr/>
              <a:tblGrid>
                <a:gridCol w="4206240"/>
                <a:gridCol w="2286000"/>
                <a:gridCol w="2651760"/>
                <a:gridCol w="1920240"/>
              </a:tblGrid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Coffee Type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Units Sold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Total Revenue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Avg. Price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A3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Latte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757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$26,875.30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$35.50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Americano with Milk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809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$24,751.12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$30.59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Cappuccino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486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$17,439.14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$35.88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Americano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564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$14,650.26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$25.98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Hot Chocolate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276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$9,933.46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$35.99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Cocoa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239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$8,521.16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$35.65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Cortado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287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$7,384.86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$25.73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Espresso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129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$2,690.28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2E2622"/>
                          </a:solidFill>
                        </a:rPr>
                        <a:t>$20.85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Sales Analytics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view of transaction volume and revenue (Mar – Feb)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A7BEA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978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Peaks: </a:t>
            </a:r>
            <a:pPr indent="0" marL="0">
              <a:buNone/>
            </a:pPr>
            <a:r>
              <a:rPr lang="en-US" sz="1250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(494), Oct (426) &amp; Feb (423)   </a:t>
            </a:r>
            <a:pPr indent="0" marL="0">
              <a:buNone/>
            </a:pPr>
            <a:r>
              <a:rPr lang="en-US" sz="1250" b="1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Lows: </a:t>
            </a:r>
            <a:pPr indent="0" marL="0">
              <a:buNone/>
            </a:pPr>
            <a:r>
              <a:rPr lang="en-US" sz="1250" dirty="0">
                <a:solidFill>
                  <a:srgbClr val="2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(168) &amp; Jan (201) — useful windows for targeted promotions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Sales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Distribution by Time of 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evenly spread across morning, afternoon and night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5120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7373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55080" y="2194560"/>
            <a:ext cx="320040" cy="3200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4"/>
          <p:cNvSpPr/>
          <p:nvPr/>
        </p:nvSpPr>
        <p:spPr>
          <a:xfrm>
            <a:off x="690372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0372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1,161 transactions  (32.73%)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0372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$38,186.34 revenue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31546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3611880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3264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Afternoon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0372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1,205 transactions  (33.97%)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0372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$38,130.04 revenue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45720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55080" y="5029200"/>
            <a:ext cx="320040" cy="320040"/>
          </a:xfrm>
          <a:prstGeom prst="ellipse">
            <a:avLst/>
          </a:prstGeom>
          <a:solidFill>
            <a:srgbClr val="5C4F47"/>
          </a:solidFill>
          <a:ln/>
        </p:spPr>
      </p:sp>
      <p:sp>
        <p:nvSpPr>
          <p:cNvPr id="17" name="Text 14"/>
          <p:cNvSpPr/>
          <p:nvPr/>
        </p:nvSpPr>
        <p:spPr>
          <a:xfrm>
            <a:off x="6903720" y="4681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0372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1,181 transactions  (33.3%)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903720" y="5394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$35,929.20 revenue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Sales Analytics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 Preference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payment method by coffee type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0" y="1737360"/>
            <a:ext cx="3200400" cy="32004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2331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480560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94560" y="5212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coffee type in the dataset — from Espresso to Latte — was purchased exclusively by card. No cash transactions were recorded across any product line.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Sales 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suggests for business strategy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top performers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 and Americano with Milk drive over 46% of total revenue combined — feature them in upsells and bundles.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18562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off-peak months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and January see the lowest volumes. Run seasonal promotions or loyalty offers to smooth demand.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2793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all-day staffing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Morning, afternoon and night each contribute roughly a third of transactions — staff and stock evenly across shifts.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976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2793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fully cashless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49377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100% of transactions on card, simplifying operations around card-only payments could reduce overhead.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Sales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B85042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2026-09-16T13:43:08Z</dcterms:created>
  <dcterms:modified xsi:type="dcterms:W3CDTF">2026-09-16T13:43:08Z</dcterms:modified>
</cp:coreProperties>
</file>